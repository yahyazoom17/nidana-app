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18176" y="302382"/>
            <a:ext cx="1576388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HACKATHON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1056122"/>
            <a:ext cx="5305425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CRISIS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9511" y="1296107"/>
            <a:ext cx="4752975" cy="19621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spcAft>
                <a:spcPts val="1215"/>
              </a:spcAft>
              <a:buNone/>
            </a:pPr>
            <a:r>
              <a:rPr lang="en-US" sz="46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Healthcare Is Broken. Nidana Fixes It.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097" y="3411810"/>
            <a:ext cx="4024312" cy="4667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5"/>
              </a:lnSpc>
              <a:buNone/>
            </a:pPr>
            <a:r>
              <a:rPr lang="en-US" sz="10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AI-driven ecosystem making quality healthcare accessible, intelligent, and personal for everyone.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7576" y="4135301"/>
            <a:ext cx="7143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spcAft>
                <a:spcPts val="205"/>
              </a:spcAft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47576" y="4283571"/>
            <a:ext cx="714375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Nidana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26691" y="4189958"/>
            <a:ext cx="4763" cy="204787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996604" y="4135301"/>
            <a:ext cx="10572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spcAft>
                <a:spcPts val="205"/>
              </a:spcAft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996604" y="4283571"/>
            <a:ext cx="1057275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Health Innovation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8895" y="1748024"/>
            <a:ext cx="2009775" cy="2009775"/>
          </a:xfrm>
          <a:prstGeom prst="ellipse">
            <a:avLst/>
          </a:prstGeom>
          <a:ln w="4763">
            <a:solidFill>
              <a:srgbClr val="1B5E5A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4626" y="1883755"/>
            <a:ext cx="1738312" cy="1738312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19" name="Text 17"/>
          <p:cNvSpPr/>
          <p:nvPr/>
        </p:nvSpPr>
        <p:spPr>
          <a:xfrm>
            <a:off x="6857070" y="2268699"/>
            <a:ext cx="733425" cy="38576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25"/>
              </a:lnSpc>
              <a:buNone/>
            </a:pPr>
            <a:r>
              <a:rPr lang="en-US" sz="30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4.5B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59389" y="2704542"/>
            <a:ext cx="1128713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UNDERSERVED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085633" y="2919264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2" name="Text 20"/>
          <p:cNvSpPr/>
          <p:nvPr/>
        </p:nvSpPr>
        <p:spPr>
          <a:xfrm>
            <a:off x="6537982" y="3006775"/>
            <a:ext cx="1371600" cy="228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5"/>
              </a:lnSpc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access to essential health services globally.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136160" y="1677739"/>
            <a:ext cx="47625" cy="4762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24" name="Shape 22"/>
          <p:cNvSpPr/>
          <p:nvPr/>
        </p:nvSpPr>
        <p:spPr>
          <a:xfrm>
            <a:off x="547576" y="4881562"/>
            <a:ext cx="3490912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038637" y="4762686"/>
            <a:ext cx="1066800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05586" y="4881562"/>
            <a:ext cx="3490912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1622" y="302382"/>
            <a:ext cx="733425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062"/>
            <a:ext cx="80486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Companion. Total Health.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27270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Text 9"/>
          <p:cNvSpPr/>
          <p:nvPr/>
        </p:nvSpPr>
        <p:spPr>
          <a:xfrm>
            <a:off x="548134" y="2314203"/>
            <a:ext cx="3795712" cy="8715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5"/>
              </a:lnSpc>
              <a:spcAft>
                <a:spcPts val="1215"/>
              </a:spcAft>
              <a:buNone/>
            </a:pPr>
            <a:r>
              <a:rPr lang="en-US" sz="10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 integrates AI-powered triage, voice-enabled consultations, predictive analytics, and intelligent scheduling into a single platform — removing every barrier between a person and their health.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134" y="3339554"/>
            <a:ext cx="3795712" cy="65246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5"/>
              </a:lnSpc>
              <a:buNone/>
            </a:pPr>
            <a:r>
              <a:rPr lang="en-US" sz="10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real-world constraints — low connectivity, language barriers, complex insurance systems — Nidana works for the many, not the few.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116" y="1492188"/>
            <a:ext cx="366712" cy="366712"/>
          </a:xfrm>
          <a:prstGeom prst="ellipse">
            <a:avLst/>
          </a:prstGeom>
          <a:solidFill>
            <a:srgbClr val="1B5E5A"/>
          </a:solidFill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0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8288" y="1493416"/>
            <a:ext cx="3248025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Aft>
                <a:spcPts val="325"/>
              </a:spcAft>
              <a:buNone/>
            </a:pPr>
            <a:r>
              <a:rPr lang="en-US" sz="10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Triage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8288" y="1726629"/>
            <a:ext cx="3248025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chatbot assesses symptoms and routes patients to the right care level instantly.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00116" y="2207084"/>
            <a:ext cx="366712" cy="366712"/>
          </a:xfrm>
          <a:prstGeom prst="ellipse">
            <a:avLst/>
          </a:prstGeom>
          <a:solidFill>
            <a:srgbClr val="1B5E5A"/>
          </a:solidFill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0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8288" y="2208312"/>
            <a:ext cx="3248025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Aft>
                <a:spcPts val="325"/>
              </a:spcAft>
              <a:buNone/>
            </a:pPr>
            <a:r>
              <a:rPr lang="en-US" sz="10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Support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8288" y="2441525"/>
            <a:ext cx="3248025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Empathetic conversational AI provides mental health first aid and peer referrals.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00116" y="2921980"/>
            <a:ext cx="366712" cy="366712"/>
          </a:xfrm>
          <a:prstGeom prst="ellipse">
            <a:avLst/>
          </a:prstGeom>
          <a:solidFill>
            <a:srgbClr val="C4654A"/>
          </a:solidFill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0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8436" y="2923208"/>
            <a:ext cx="31623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Aft>
                <a:spcPts val="325"/>
              </a:spcAft>
              <a:buNone/>
            </a:pPr>
            <a:r>
              <a:rPr lang="en-US" sz="10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8436" y="3154784"/>
            <a:ext cx="3162300" cy="152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 surface risks before they become emergencies.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543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329150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814106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5A"/>
          </a:solidFill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DF8F0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0" y="2857500"/>
            <a:ext cx="3657600" cy="3657600"/>
          </a:xfrm>
          <a:prstGeom prst="ellipse">
            <a:avLst/>
          </a:prstGeom>
          <a:solidFill>
            <a:srgbClr val="C4654A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94501" y="302382"/>
            <a:ext cx="80010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062"/>
            <a:ext cx="80486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Engine Behind Nidana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27270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Shape 9"/>
          <p:cNvSpPr/>
          <p:nvPr/>
        </p:nvSpPr>
        <p:spPr>
          <a:xfrm>
            <a:off x="549585" y="1493788"/>
            <a:ext cx="3838575" cy="3319462"/>
          </a:xfrm>
          <a:prstGeom prst="roundRect">
            <a:avLst>
              <a:gd name="adj" fmla="val 1138"/>
            </a:avLst>
          </a:prstGeom>
          <a:solidFill>
            <a:srgbClr val="FDF8F0">
              <a:alpha val="7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22871" y="1698352"/>
            <a:ext cx="457200" cy="457200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13" name="Text 11"/>
          <p:cNvSpPr/>
          <p:nvPr/>
        </p:nvSpPr>
        <p:spPr>
          <a:xfrm>
            <a:off x="958602" y="1788802"/>
            <a:ext cx="185738" cy="2762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3429" y="2284958"/>
            <a:ext cx="3290887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5"/>
              </a:lnSpc>
              <a:spcAft>
                <a:spcPts val="605"/>
              </a:spcAft>
              <a:buNone/>
            </a:pPr>
            <a:r>
              <a:rPr lang="en-US" sz="1500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Chatbot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1903" y="2662907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6" name="Text 14"/>
          <p:cNvSpPr/>
          <p:nvPr/>
        </p:nvSpPr>
        <p:spPr>
          <a:xfrm>
            <a:off x="823429" y="2800573"/>
            <a:ext cx="3290887" cy="4048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spcAft>
                <a:spcPts val="810"/>
              </a:spcAft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and mental triage through a conversational AI trained on clinical protocols.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3429" y="3307184"/>
            <a:ext cx="3290887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605"/>
              </a:spcAft>
              <a:buNone/>
            </a:pPr>
            <a:r>
              <a:rPr lang="en-US" sz="8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Assesses 200+ symptom combinations to recommend next steps — from self-care to emergency services.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3429" y="3735512"/>
            <a:ext cx="3290887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emotional distress patterns and connects users with licensed mental health resources.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5914" y="1493788"/>
            <a:ext cx="3838575" cy="3319462"/>
          </a:xfrm>
          <a:prstGeom prst="roundRect">
            <a:avLst>
              <a:gd name="adj" fmla="val 1138"/>
            </a:avLst>
          </a:prstGeom>
          <a:solidFill>
            <a:srgbClr val="FDF8F0">
              <a:alpha val="7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029200" y="1698352"/>
            <a:ext cx="457200" cy="457200"/>
          </a:xfrm>
          <a:prstGeom prst="ellipse">
            <a:avLst/>
          </a:prstGeom>
          <a:solidFill>
            <a:srgbClr val="FDF8F0"/>
          </a:solidFill>
        </p:spPr>
      </p:sp>
      <p:sp>
        <p:nvSpPr>
          <p:cNvPr id="21" name="Text 19"/>
          <p:cNvSpPr/>
          <p:nvPr/>
        </p:nvSpPr>
        <p:spPr>
          <a:xfrm>
            <a:off x="5153025" y="1803127"/>
            <a:ext cx="209550" cy="2476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200" b="1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758" y="2284958"/>
            <a:ext cx="3290887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5"/>
              </a:lnSpc>
              <a:spcAft>
                <a:spcPts val="605"/>
              </a:spcAft>
              <a:buNone/>
            </a:pPr>
            <a:r>
              <a:rPr lang="en-US" sz="1500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Speech Recognition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8233" y="2662907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4" name="Text 22"/>
          <p:cNvSpPr/>
          <p:nvPr/>
        </p:nvSpPr>
        <p:spPr>
          <a:xfrm>
            <a:off x="5029758" y="2800573"/>
            <a:ext cx="3290887" cy="4048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spcAft>
                <a:spcPts val="810"/>
              </a:spcAft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 doctor consultations via real-time voice transcription and medical terminology parsing.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758" y="3307184"/>
            <a:ext cx="3290887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605"/>
              </a:spcAft>
              <a:buNone/>
            </a:pPr>
            <a:r>
              <a:rPr lang="en-US" sz="8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Auto-generates consultation summaries and structured notes — reducing physician admin time by 40%.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758" y="3735512"/>
            <a:ext cx="3290887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14 languages to bridge communication gaps in multilingual communities.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394" y="4933057"/>
            <a:ext cx="3781425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329150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814255" y="4933057"/>
            <a:ext cx="3781425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38417" y="302382"/>
            <a:ext cx="957263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EFFICIENCY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062"/>
            <a:ext cx="80486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Intelligence at Every Touchpoint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27270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Shape 9"/>
          <p:cNvSpPr/>
          <p:nvPr/>
        </p:nvSpPr>
        <p:spPr>
          <a:xfrm>
            <a:off x="549139" y="1492672"/>
            <a:ext cx="4662488" cy="1223962"/>
          </a:xfrm>
          <a:prstGeom prst="rect">
            <a:avLst/>
          </a:prstGeom>
        </p:spPr>
      </p:sp>
      <p:sp>
        <p:nvSpPr>
          <p:cNvPr id="12" name="Text 10"/>
          <p:cNvSpPr/>
          <p:nvPr/>
        </p:nvSpPr>
        <p:spPr>
          <a:xfrm>
            <a:off x="745331" y="1492188"/>
            <a:ext cx="4467225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CHECKUP HISTORY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5331" y="1682055"/>
            <a:ext cx="4467225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5"/>
              </a:lnSpc>
              <a:spcAft>
                <a:spcPts val="605"/>
              </a:spcAft>
              <a:buNone/>
            </a:pPr>
            <a:r>
              <a:rPr lang="en-US" sz="15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Longitudinal Health Records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331" y="2059558"/>
            <a:ext cx="4467225" cy="4048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spcAft>
                <a:spcPts val="605"/>
              </a:spcAft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consultation, test result, and prescription stored in a unified, encrypted health timeline. Patients own their data — always.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331" y="2540719"/>
            <a:ext cx="4467225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Doctors receive instant context before every appointment, reducing diagnostic errors.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9139" y="2922166"/>
            <a:ext cx="4662488" cy="971550"/>
          </a:xfrm>
          <a:prstGeom prst="rect">
            <a:avLst/>
          </a:prstGeom>
        </p:spPr>
      </p:sp>
      <p:sp>
        <p:nvSpPr>
          <p:cNvPr id="17" name="Text 15"/>
          <p:cNvSpPr/>
          <p:nvPr/>
        </p:nvSpPr>
        <p:spPr>
          <a:xfrm>
            <a:off x="745331" y="2921831"/>
            <a:ext cx="4467225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&amp; POLICY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5331" y="3111698"/>
            <a:ext cx="4467225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5"/>
              </a:lnSpc>
              <a:spcAft>
                <a:spcPts val="605"/>
              </a:spcAft>
              <a:buNone/>
            </a:pPr>
            <a:r>
              <a:rPr lang="en-US" sz="15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Coverage Clarity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331" y="3489201"/>
            <a:ext cx="4467225" cy="4048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parses insurance policies and answers coverage questions before a patient books — eliminating surprise bills.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70314" y="2057065"/>
            <a:ext cx="2924175" cy="1095375"/>
          </a:xfrm>
          <a:prstGeom prst="roundRect">
            <a:avLst>
              <a:gd name="adj" fmla="val 10453"/>
            </a:avLst>
          </a:prstGeom>
          <a:solidFill>
            <a:srgbClr val="1B5E5A"/>
          </a:solidFill>
        </p:spPr>
      </p:sp>
      <p:sp>
        <p:nvSpPr>
          <p:cNvPr id="21" name="Text 19"/>
          <p:cNvSpPr/>
          <p:nvPr/>
        </p:nvSpPr>
        <p:spPr>
          <a:xfrm>
            <a:off x="5943340" y="2212442"/>
            <a:ext cx="566738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93%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5942707" y="2609106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3" name="Text 21"/>
          <p:cNvSpPr/>
          <p:nvPr/>
        </p:nvSpPr>
        <p:spPr>
          <a:xfrm>
            <a:off x="5944158" y="2696617"/>
            <a:ext cx="2376487" cy="30003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patients forget prior diagnoses when seeing a new doctor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670314" y="3306180"/>
            <a:ext cx="2924175" cy="942975"/>
          </a:xfrm>
          <a:prstGeom prst="roundRect">
            <a:avLst>
              <a:gd name="adj" fmla="val 14105"/>
            </a:avLst>
          </a:prstGeom>
          <a:solidFill>
            <a:srgbClr val="C4654A">
              <a:alpha val="1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943042" y="3460812"/>
            <a:ext cx="723900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C465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 in 3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5942707" y="3857476"/>
            <a:ext cx="276225" cy="9525"/>
          </a:xfrm>
          <a:prstGeom prst="rect">
            <a:avLst/>
          </a:prstGeom>
          <a:solidFill>
            <a:srgbClr val="1B5E5A"/>
          </a:solidFill>
        </p:spPr>
      </p:sp>
      <p:sp>
        <p:nvSpPr>
          <p:cNvPr id="27" name="Text 25"/>
          <p:cNvSpPr/>
          <p:nvPr/>
        </p:nvSpPr>
        <p:spPr>
          <a:xfrm>
            <a:off x="5943191" y="3943350"/>
            <a:ext cx="2247900" cy="1524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avoid care due to insurance uncertainty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7799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329150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814850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139" y="1492672"/>
            <a:ext cx="4662488" cy="1223962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139" y="2922166"/>
            <a:ext cx="4662488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51428" y="302382"/>
            <a:ext cx="74295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CARE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33513" y="982824"/>
            <a:ext cx="627697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When Every Second Counts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298156" y="1512466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Shape 9"/>
          <p:cNvSpPr/>
          <p:nvPr/>
        </p:nvSpPr>
        <p:spPr>
          <a:xfrm>
            <a:off x="2468910" y="1783928"/>
            <a:ext cx="1828800" cy="1828800"/>
          </a:xfrm>
          <a:prstGeom prst="ellipse">
            <a:avLst/>
          </a:prstGeom>
          <a:ln w="4763">
            <a:solidFill>
              <a:srgbClr val="C4654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985" y="1922004"/>
            <a:ext cx="1552575" cy="155257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13" name="Text 11"/>
          <p:cNvSpPr/>
          <p:nvPr/>
        </p:nvSpPr>
        <p:spPr>
          <a:xfrm>
            <a:off x="3068948" y="2319747"/>
            <a:ext cx="628650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SOS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3245123" y="2716411"/>
            <a:ext cx="276225" cy="9525"/>
          </a:xfrm>
          <a:prstGeom prst="rect">
            <a:avLst/>
          </a:prstGeom>
          <a:solidFill>
            <a:srgbClr val="FDF8F0">
              <a:alpha val="5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2787960" y="2802062"/>
            <a:ext cx="1190625" cy="2762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location share to emergency services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037819" y="3444292"/>
            <a:ext cx="71438" cy="71438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17" name="Text 15"/>
          <p:cNvSpPr/>
          <p:nvPr/>
        </p:nvSpPr>
        <p:spPr>
          <a:xfrm>
            <a:off x="2835622" y="3742320"/>
            <a:ext cx="1095375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1015"/>
              </a:spcBef>
              <a:buNone/>
            </a:pPr>
            <a:r>
              <a:rPr lang="en-US" sz="9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Trigger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59397" y="3970362"/>
            <a:ext cx="1647825" cy="6048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0"/>
              </a:lnSpc>
              <a:spcBef>
                <a:spcPts val="405"/>
              </a:spcBef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tap activates SOS, shares GPS location, and alerts pre-selected contacts and local emergency services.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46290" y="1934840"/>
            <a:ext cx="1828800" cy="1828800"/>
          </a:xfrm>
          <a:prstGeom prst="ellipse">
            <a:avLst/>
          </a:prstGeom>
          <a:ln w="4763">
            <a:solidFill>
              <a:srgbClr val="1B5E5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4366" y="2072915"/>
            <a:ext cx="1552575" cy="1552575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21" name="Text 19"/>
          <p:cNvSpPr/>
          <p:nvPr/>
        </p:nvSpPr>
        <p:spPr>
          <a:xfrm>
            <a:off x="5563009" y="2470658"/>
            <a:ext cx="395287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Rx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5622503" y="2867323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3" name="Text 21"/>
          <p:cNvSpPr/>
          <p:nvPr/>
        </p:nvSpPr>
        <p:spPr>
          <a:xfrm>
            <a:off x="5165341" y="2952973"/>
            <a:ext cx="1190625" cy="2762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Smart, personalized medication schedules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764485" y="1865486"/>
            <a:ext cx="47625" cy="4762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25" name="Text 23"/>
          <p:cNvSpPr/>
          <p:nvPr/>
        </p:nvSpPr>
        <p:spPr>
          <a:xfrm>
            <a:off x="5174866" y="3893232"/>
            <a:ext cx="1171575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1015"/>
              </a:spcBef>
              <a:buNone/>
            </a:pPr>
            <a:r>
              <a:rPr lang="en-US" sz="9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Reminders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6778" y="4122018"/>
            <a:ext cx="16478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0"/>
              </a:lnSpc>
              <a:spcBef>
                <a:spcPts val="405"/>
              </a:spcBef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AI-timed reminders adapt to daily routines and flag dangerous drug interactions automatically.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48878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331494" y="4814181"/>
            <a:ext cx="481012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813697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5A"/>
          </a:solidFill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DF8F0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0" y="2857500"/>
            <a:ext cx="3657600" cy="3657600"/>
          </a:xfrm>
          <a:prstGeom prst="ellipse">
            <a:avLst/>
          </a:prstGeom>
          <a:solidFill>
            <a:srgbClr val="C4654A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90309" y="302382"/>
            <a:ext cx="1004887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FOCUS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55" y="1126368"/>
            <a:ext cx="548640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WOMEN'S HEALTHCARE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7613" y="1367507"/>
            <a:ext cx="4391025" cy="110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5"/>
              </a:lnSpc>
              <a:spcAft>
                <a:spcPts val="810"/>
              </a:spcAft>
              <a:buNone/>
            </a:pPr>
            <a:r>
              <a:rPr lang="en-US" sz="3900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for Her, by Design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549027" y="2575917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2" name="Text 10"/>
          <p:cNvSpPr/>
          <p:nvPr/>
        </p:nvSpPr>
        <p:spPr>
          <a:xfrm>
            <a:off x="548097" y="2744614"/>
            <a:ext cx="4024312" cy="65246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5"/>
              </a:lnSpc>
              <a:spcAft>
                <a:spcPts val="1620"/>
              </a:spcAft>
              <a:buNone/>
            </a:pPr>
            <a:r>
              <a:rPr lang="en-US" sz="10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module designed around the full arc of women's health — from adolescence through menopause — with clinically informed tracking and proactive alerts.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7613" y="3637880"/>
            <a:ext cx="47625" cy="4762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14" name="Text 12"/>
          <p:cNvSpPr/>
          <p:nvPr/>
        </p:nvSpPr>
        <p:spPr>
          <a:xfrm>
            <a:off x="777553" y="3602720"/>
            <a:ext cx="3290887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Menstrual cycle tracking with AI-predicted irregularity alerts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613" y="3956596"/>
            <a:ext cx="47625" cy="4762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16" name="Text 14"/>
          <p:cNvSpPr/>
          <p:nvPr/>
        </p:nvSpPr>
        <p:spPr>
          <a:xfrm>
            <a:off x="776994" y="3921435"/>
            <a:ext cx="4033837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Pregnancy monitoring with trimester-specific guidance and kick counters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7613" y="4275311"/>
            <a:ext cx="47625" cy="4762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18" name="Text 16"/>
          <p:cNvSpPr/>
          <p:nvPr/>
        </p:nvSpPr>
        <p:spPr>
          <a:xfrm>
            <a:off x="777478" y="4240150"/>
            <a:ext cx="3281363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Maternal health alerts linked directly to OB-GYN care teams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74" y="1864221"/>
            <a:ext cx="1828800" cy="1828800"/>
          </a:xfrm>
          <a:prstGeom prst="ellipse">
            <a:avLst/>
          </a:prstGeom>
          <a:ln w="4763">
            <a:solidFill>
              <a:srgbClr val="FDF8F0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8950" y="2002296"/>
            <a:ext cx="1552575" cy="1552575"/>
          </a:xfrm>
          <a:prstGeom prst="ellipse">
            <a:avLst/>
          </a:prstGeom>
          <a:solidFill>
            <a:srgbClr val="FDF8F0">
              <a:alpha val="8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998531" y="2317142"/>
            <a:ext cx="633412" cy="34766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7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70%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7177088" y="2741786"/>
            <a:ext cx="276225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3" name="Text 21"/>
          <p:cNvSpPr/>
          <p:nvPr/>
        </p:nvSpPr>
        <p:spPr>
          <a:xfrm>
            <a:off x="6719925" y="2829334"/>
            <a:ext cx="1190625" cy="40957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women's health conditions go undiagnosed for over a year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320" y="4933057"/>
            <a:ext cx="3781425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329113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814255" y="4933057"/>
            <a:ext cx="3781425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80238" y="302382"/>
            <a:ext cx="614363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EDGE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062"/>
            <a:ext cx="80486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Predictive, Not Reactive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27270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Text 9"/>
          <p:cNvSpPr/>
          <p:nvPr/>
        </p:nvSpPr>
        <p:spPr>
          <a:xfrm>
            <a:off x="547427" y="1492188"/>
            <a:ext cx="365760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SCORE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7427" y="1784338"/>
            <a:ext cx="3657600" cy="3286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spcAft>
                <a:spcPts val="605"/>
              </a:spcAft>
              <a:buNone/>
            </a:pPr>
            <a:r>
              <a:rPr lang="en-US" sz="17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Personalized Wellness Index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7427" y="2345085"/>
            <a:ext cx="3657600" cy="6048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 calculates a dynamic score from vitals, activity, sleep, stress, and medical history — giving users a single, actionable number that reflects their true health status.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7427" y="3104108"/>
            <a:ext cx="3657600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trends over time reveal lifestyle improvements and flag deteriorating patterns weeks before clinical symptoms emerge.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69619" y="1493788"/>
            <a:ext cx="4763" cy="3319462"/>
          </a:xfrm>
          <a:prstGeom prst="rect">
            <a:avLst/>
          </a:prstGeom>
          <a:solidFill>
            <a:srgbClr val="1B5E5A">
              <a:alpha val="1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938973" y="1492188"/>
            <a:ext cx="365760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HEALTH PREDICTOR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38973" y="1784338"/>
            <a:ext cx="3657600" cy="3286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spcAft>
                <a:spcPts val="605"/>
              </a:spcAft>
              <a:buNone/>
            </a:pPr>
            <a:r>
              <a:rPr lang="en-US" sz="17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Risk Assessment at Scale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8973" y="2345085"/>
            <a:ext cx="3657600" cy="6048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models trained on de-identified population data predict onset likelihood for conditions like diabetes, hypertension, and cardiac events.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8973" y="3104108"/>
            <a:ext cx="3657600" cy="3524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are explained in plain language — not statistical jargon — so patients can act with confidence, not anxiety.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7464" y="4933057"/>
            <a:ext cx="3786188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331531" y="4814181"/>
            <a:ext cx="481012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810423" y="4933057"/>
            <a:ext cx="3786188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99102" y="302382"/>
            <a:ext cx="89535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EXPERIENCE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173"/>
            <a:ext cx="8048625" cy="90487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Need to Consultation in Under 60 Seconds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72536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Shape 9"/>
          <p:cNvSpPr/>
          <p:nvPr/>
        </p:nvSpPr>
        <p:spPr>
          <a:xfrm>
            <a:off x="1098166" y="2416187"/>
            <a:ext cx="638175" cy="638175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12" name="Text 10"/>
          <p:cNvSpPr/>
          <p:nvPr/>
        </p:nvSpPr>
        <p:spPr>
          <a:xfrm>
            <a:off x="1331528" y="2611413"/>
            <a:ext cx="171450" cy="2476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2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859" y="3157091"/>
            <a:ext cx="804862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Input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6697" y="3373450"/>
            <a:ext cx="1281112" cy="4333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or voice — describe how you feel in your own words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85516" y="3105894"/>
            <a:ext cx="366712" cy="9525"/>
          </a:xfrm>
          <a:prstGeom prst="rect">
            <a:avLst/>
          </a:prstGeom>
          <a:solidFill>
            <a:srgbClr val="C4654A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201330" y="2416187"/>
            <a:ext cx="638175" cy="638175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17" name="Text 15"/>
          <p:cNvSpPr/>
          <p:nvPr/>
        </p:nvSpPr>
        <p:spPr>
          <a:xfrm>
            <a:off x="3425168" y="2611413"/>
            <a:ext cx="190500" cy="2476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2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4711" y="3157091"/>
            <a:ext cx="471488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Triage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79861" y="3373450"/>
            <a:ext cx="1281112" cy="4333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 assesses urgency and identifies the right specialist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88681" y="3105894"/>
            <a:ext cx="366712" cy="9525"/>
          </a:xfrm>
          <a:prstGeom prst="rect">
            <a:avLst/>
          </a:prstGeom>
          <a:solidFill>
            <a:srgbClr val="C4654A">
              <a:alpha val="4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304495" y="2416187"/>
            <a:ext cx="638175" cy="638175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22" name="Text 20"/>
          <p:cNvSpPr/>
          <p:nvPr/>
        </p:nvSpPr>
        <p:spPr>
          <a:xfrm>
            <a:off x="5530676" y="2611413"/>
            <a:ext cx="185738" cy="2476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2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83051" y="3157091"/>
            <a:ext cx="881063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Selection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026" y="3373450"/>
            <a:ext cx="1281112" cy="4333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verified doctors, availability, ratings, and insurance compatibility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91846" y="3105894"/>
            <a:ext cx="366712" cy="9525"/>
          </a:xfrm>
          <a:prstGeom prst="rect">
            <a:avLst/>
          </a:prstGeom>
          <a:solidFill>
            <a:srgbClr val="C4654A">
              <a:alpha val="4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407659" y="2416187"/>
            <a:ext cx="638175" cy="638175"/>
          </a:xfrm>
          <a:prstGeom prst="ellipse">
            <a:avLst/>
          </a:prstGeom>
          <a:solidFill>
            <a:srgbClr val="1B5E5A"/>
          </a:solidFill>
        </p:spPr>
      </p:sp>
      <p:sp>
        <p:nvSpPr>
          <p:cNvPr id="27" name="Text 25"/>
          <p:cNvSpPr/>
          <p:nvPr/>
        </p:nvSpPr>
        <p:spPr>
          <a:xfrm>
            <a:off x="7631497" y="2611413"/>
            <a:ext cx="190500" cy="2476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2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45759" y="3157091"/>
            <a:ext cx="561975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spcAft>
                <a:spcPts val="405"/>
              </a:spcAft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191" y="3373450"/>
            <a:ext cx="1281112" cy="4333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confirmed with pre-appointment health summary sent to doctor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7688" y="4379975"/>
            <a:ext cx="8048625" cy="433388"/>
          </a:xfrm>
          <a:prstGeom prst="roundRect">
            <a:avLst>
              <a:gd name="adj" fmla="val 11129"/>
            </a:avLst>
          </a:prstGeom>
          <a:solidFill>
            <a:srgbClr val="1B5E5A">
              <a:alpha val="6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2416932" y="4508562"/>
            <a:ext cx="4310062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5"/>
              </a:lnSpc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time from first symptom entry to confirmed appointment: </a:t>
            </a:r>
            <a:r>
              <a:rPr lang="en-US" sz="9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seconds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357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4329113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814218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0"/>
          </a:solidFill>
        </p:spPr>
      </p:sp>
      <p:sp>
        <p:nvSpPr>
          <p:cNvPr id="3" name="Shape 1"/>
          <p:cNvSpPr/>
          <p:nvPr/>
        </p:nvSpPr>
        <p:spPr>
          <a:xfrm>
            <a:off x="6218895" y="-913470"/>
            <a:ext cx="3838575" cy="3838575"/>
          </a:xfrm>
          <a:prstGeom prst="ellipse">
            <a:avLst/>
          </a:prstGeom>
          <a:solidFill>
            <a:srgbClr val="1B5E5A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547650" y="2766975"/>
            <a:ext cx="2924175" cy="2924175"/>
          </a:xfrm>
          <a:prstGeom prst="ellipse">
            <a:avLst/>
          </a:prstGeom>
          <a:solidFill>
            <a:srgbClr val="C4654A">
              <a:alpha val="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7460" y="302382"/>
            <a:ext cx="819150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IMPACT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7688" y="743062"/>
            <a:ext cx="8048625" cy="45243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spcAft>
                <a:spcPts val="605"/>
              </a:spcAft>
              <a:buNone/>
            </a:pPr>
            <a:r>
              <a:rPr lang="en-US" sz="3200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Future of Digital Medicine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9027" y="1272704"/>
            <a:ext cx="547687" cy="14288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1" name="Text 9"/>
          <p:cNvSpPr/>
          <p:nvPr/>
        </p:nvSpPr>
        <p:spPr>
          <a:xfrm>
            <a:off x="549139" y="2248272"/>
            <a:ext cx="3290887" cy="10858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5"/>
              </a:lnSpc>
              <a:buNone/>
            </a:pPr>
            <a:r>
              <a:rPr lang="en-US" sz="10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health is not a trend — it is the primary infrastructure of medicine for the next generation. The convergence of AI, mobile penetration, and post-pandemic care expectations creates a market ready for Nidana.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9139" y="3488866"/>
            <a:ext cx="3290887" cy="571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Early-mover advantage in AI-integrated primary care will define the dominant health platforms of the 2030s. Nidana is positioned to be that platform.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329" y="2112578"/>
            <a:ext cx="2057400" cy="1047750"/>
          </a:xfrm>
          <a:prstGeom prst="roundRect">
            <a:avLst>
              <a:gd name="adj" fmla="val 9140"/>
            </a:avLst>
          </a:prstGeom>
          <a:solidFill>
            <a:srgbClr val="1B5E5A"/>
          </a:solidFill>
        </p:spPr>
      </p:sp>
      <p:sp>
        <p:nvSpPr>
          <p:cNvPr id="14" name="Text 12"/>
          <p:cNvSpPr/>
          <p:nvPr/>
        </p:nvSpPr>
        <p:spPr>
          <a:xfrm>
            <a:off x="4434929" y="2266466"/>
            <a:ext cx="1600200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$659B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4434929" y="2647727"/>
            <a:ext cx="228600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16" name="Text 14"/>
          <p:cNvSpPr/>
          <p:nvPr/>
        </p:nvSpPr>
        <p:spPr>
          <a:xfrm>
            <a:off x="4434929" y="2720057"/>
            <a:ext cx="1600200" cy="2857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digital health market projected by 2025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538020" y="2112578"/>
            <a:ext cx="2057400" cy="1047750"/>
          </a:xfrm>
          <a:prstGeom prst="roundRect">
            <a:avLst>
              <a:gd name="adj" fmla="val 9140"/>
            </a:avLst>
          </a:prstGeom>
          <a:solidFill>
            <a:srgbClr val="C4654A">
              <a:alpha val="1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766620" y="2266466"/>
            <a:ext cx="1600200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C465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65%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766620" y="2647727"/>
            <a:ext cx="228600" cy="9525"/>
          </a:xfrm>
          <a:prstGeom prst="rect">
            <a:avLst/>
          </a:prstGeom>
          <a:solidFill>
            <a:srgbClr val="1B5E5A"/>
          </a:solidFill>
        </p:spPr>
      </p:sp>
      <p:sp>
        <p:nvSpPr>
          <p:cNvPr id="20" name="Text 18"/>
          <p:cNvSpPr/>
          <p:nvPr/>
        </p:nvSpPr>
        <p:spPr>
          <a:xfrm>
            <a:off x="6766620" y="2720057"/>
            <a:ext cx="1600200" cy="28575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patients now prefer telehealth for primary care visits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205362" y="3290069"/>
            <a:ext cx="4391025" cy="904875"/>
          </a:xfrm>
          <a:prstGeom prst="roundRect">
            <a:avLst>
              <a:gd name="adj" fmla="val 12254"/>
            </a:avLst>
          </a:prstGeom>
          <a:solidFill>
            <a:srgbClr val="1B5E5A">
              <a:alpha val="6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433962" y="3444515"/>
            <a:ext cx="3933825" cy="3190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1B5E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3.2B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4434929" y="3825776"/>
            <a:ext cx="228600" cy="9525"/>
          </a:xfrm>
          <a:prstGeom prst="rect">
            <a:avLst/>
          </a:prstGeom>
          <a:solidFill>
            <a:srgbClr val="C4654A"/>
          </a:solidFill>
        </p:spPr>
      </p:sp>
      <p:sp>
        <p:nvSpPr>
          <p:cNvPr id="24" name="Text 22"/>
          <p:cNvSpPr/>
          <p:nvPr/>
        </p:nvSpPr>
        <p:spPr>
          <a:xfrm>
            <a:off x="4433962" y="3897548"/>
            <a:ext cx="3933825" cy="14287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 users in emerging markets — Nidana's primary growth territory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320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4329113" y="4814181"/>
            <a:ext cx="48577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1B5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814255" y="4933057"/>
            <a:ext cx="3781425" cy="4763"/>
          </a:xfrm>
          <a:prstGeom prst="rect">
            <a:avLst/>
          </a:prstGeom>
          <a:solidFill>
            <a:srgbClr val="1B5E5A">
              <a:alpha val="20000"/>
            </a:srgbClr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5A"/>
          </a:solidFill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DF8F0">
              <a:alpha val="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0" y="2857500"/>
            <a:ext cx="3657600" cy="3657600"/>
          </a:xfrm>
          <a:prstGeom prst="ellipse">
            <a:avLst/>
          </a:prstGeom>
          <a:solidFill>
            <a:srgbClr val="C4654A">
              <a:alpha val="1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580" y="257175"/>
            <a:ext cx="228600" cy="228600"/>
          </a:xfrm>
          <a:prstGeom prst="ellipse">
            <a:avLst/>
          </a:prstGeom>
          <a:ln w="9525">
            <a:solidFill>
              <a:srgbClr val="C46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637" y="326231"/>
            <a:ext cx="90488" cy="90488"/>
          </a:xfrm>
          <a:prstGeom prst="ellipse">
            <a:avLst/>
          </a:prstGeom>
          <a:solidFill>
            <a:srgbClr val="C4654A"/>
          </a:solidFill>
        </p:spPr>
      </p:sp>
      <p:sp>
        <p:nvSpPr>
          <p:cNvPr id="7" name="Text 5"/>
          <p:cNvSpPr/>
          <p:nvPr/>
        </p:nvSpPr>
        <p:spPr>
          <a:xfrm>
            <a:off x="869566" y="288131"/>
            <a:ext cx="49530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800" b="1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0986" y="302382"/>
            <a:ext cx="823913" cy="138113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38575" y="1140916"/>
            <a:ext cx="1466850" cy="166688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spcAft>
                <a:spcPts val="1215"/>
              </a:spcAft>
              <a:buNone/>
            </a:pPr>
            <a:r>
              <a:rPr lang="en-US" sz="800" b="1" dirty="0">
                <a:solidFill>
                  <a:srgbClr val="C46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MOVEMENT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459706"/>
            <a:ext cx="6400800" cy="1309687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50"/>
              </a:lnSpc>
              <a:spcAft>
                <a:spcPts val="1215"/>
              </a:spcAft>
              <a:buNone/>
            </a:pPr>
            <a:r>
              <a:rPr lang="en-US" sz="4600" dirty="0">
                <a:solidFill>
                  <a:srgbClr val="FDF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Healthcare for Everyone. Starting Now.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195475" y="2922315"/>
            <a:ext cx="4752975" cy="4667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5"/>
              </a:lnSpc>
              <a:spcAft>
                <a:spcPts val="2430"/>
              </a:spcAft>
              <a:buNone/>
            </a:pPr>
            <a:r>
              <a:rPr lang="en-US" sz="10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 is looking for partners, mentors, and early adopters who believe that accessible, intelligent healthcare is not a luxury — it is a right.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50194" y="3801033"/>
            <a:ext cx="5443538" cy="561975"/>
          </a:xfrm>
          <a:prstGeom prst="rect">
            <a:avLst/>
          </a:prstGeom>
        </p:spPr>
      </p:sp>
      <p:sp>
        <p:nvSpPr>
          <p:cNvPr id="13" name="Text 11"/>
          <p:cNvSpPr/>
          <p:nvPr/>
        </p:nvSpPr>
        <p:spPr>
          <a:xfrm>
            <a:off x="1850194" y="4010509"/>
            <a:ext cx="1138237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INQUIRIES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850194" y="4186572"/>
            <a:ext cx="1138237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hello@nidana.health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37868" y="4011030"/>
            <a:ext cx="4763" cy="352425"/>
          </a:xfrm>
          <a:prstGeom prst="rect">
            <a:avLst/>
          </a:prstGeom>
          <a:solidFill>
            <a:srgbClr val="FDF8F0">
              <a:alpha val="1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092029" y="4010509"/>
            <a:ext cx="134302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092029" y="4186572"/>
            <a:ext cx="1343025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partners@nidana.health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4453" y="4011030"/>
            <a:ext cx="4763" cy="352425"/>
          </a:xfrm>
          <a:prstGeom prst="rect">
            <a:avLst/>
          </a:prstGeom>
          <a:solidFill>
            <a:srgbClr val="FDF8F0">
              <a:alpha val="1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537573" y="4010509"/>
            <a:ext cx="757238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537573" y="4186572"/>
            <a:ext cx="757238" cy="1762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nidana.health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948" y="4881562"/>
            <a:ext cx="3790950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338638" y="4762686"/>
            <a:ext cx="466725" cy="123825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00" dirty="0">
                <a:solidFill>
                  <a:srgbClr val="FDF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805102" y="4881562"/>
            <a:ext cx="3790950" cy="4763"/>
          </a:xfrm>
          <a:prstGeom prst="rect">
            <a:avLst/>
          </a:prstGeom>
          <a:solidFill>
            <a:srgbClr val="FDF8F0">
              <a:alpha val="20000"/>
            </a:srgbClr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0194" y="3801033"/>
            <a:ext cx="5443538" cy="561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5132</Words>
  <Application>WPS Presentation</Application>
  <PresentationFormat>On-screen Show (16:9)</PresentationFormat>
  <Paragraphs>266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Inter</vt:lpstr>
      <vt:lpstr>Segoe Print</vt:lpstr>
      <vt:lpstr>Inter</vt:lpstr>
      <vt:lpstr>Inter</vt:lpstr>
      <vt:lpstr>Playfair Display</vt:lpstr>
      <vt:lpstr>Playfair Display</vt:lpstr>
      <vt:lpstr>Playfair Display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Deepa</cp:lastModifiedBy>
  <cp:revision>3</cp:revision>
  <dcterms:created xsi:type="dcterms:W3CDTF">2026-05-01T10:01:00Z</dcterms:created>
  <dcterms:modified xsi:type="dcterms:W3CDTF">2026-05-01T10:08:28Z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32D8F621D6404F5591E3EB182AFD21F0_13</vt:lpwstr>
  </property>
  <property fmtid="{D5CDD505-2E9C-101B-9397-08002B2CF9AE}" pid="3" name="KSOProductBuildVer">
    <vt:lpwstr>1033-12.1.0.25862</vt:lpwstr>
  </property>
</Properties>
</file>